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Driven Transition Management &amp; Risk Tracking Agent" id="{8BB3D705-4199-4760-A99B-B3FB65256E9E}">
          <p14:sldIdLst>
            <p14:sldId id="2561"/>
          </p14:sldIdLst>
        </p14:section>
        <p14:section name="Introduction and Agenda" id="{B3051F1C-B33F-4D73-8E92-A00D1DA1F7AA}">
          <p14:sldIdLst>
            <p14:sldId id="2562"/>
            <p14:sldId id="2563"/>
          </p14:sldIdLst>
        </p14:section>
        <p14:section name="Current Challenges" id="{9AA8EB10-775A-408B-9BC3-5CA433644D7D}">
          <p14:sldIdLst>
            <p14:sldId id="2564"/>
            <p14:sldId id="2565"/>
          </p14:sldIdLst>
        </p14:section>
        <p14:section name="Objectives" id="{18EFA495-A6F1-4797-B936-02716C0342E2}">
          <p14:sldIdLst>
            <p14:sldId id="2566"/>
            <p14:sldId id="2567"/>
          </p14:sldIdLst>
        </p14:section>
        <p14:section name="Solution Overview" id="{AFB83C6C-4602-40FE-AECC-B9BD76F46F2C}">
          <p14:sldIdLst>
            <p14:sldId id="2568"/>
            <p14:sldId id="2569"/>
          </p14:sldIdLst>
        </p14:section>
        <p14:section name="Architecture" id="{17CFD481-52CA-4B7C-923C-B7FAB65FBFE7}">
          <p14:sldIdLst>
            <p14:sldId id="2570"/>
            <p14:sldId id="2571"/>
          </p14:sldIdLst>
        </p14:section>
        <p14:section name="Risk Tracking Features" id="{D7B5FD47-89FC-4976-AB38-DFDCFF5E92FE}">
          <p14:sldIdLst>
            <p14:sldId id="2572"/>
            <p14:sldId id="2573"/>
          </p14:sldIdLst>
        </p14:section>
        <p14:section name="Transition Management Features" id="{E85123D9-94BF-4E2C-A704-90CCD20E6B82}">
          <p14:sldIdLst>
            <p14:sldId id="2574"/>
            <p14:sldId id="2575"/>
          </p14:sldIdLst>
        </p14:section>
        <p14:section name="Benefits" id="{8FE3DD30-6587-47A0-9C96-B4F8882055E8}">
          <p14:sldIdLst>
            <p14:sldId id="2576"/>
            <p14:sldId id="2577"/>
          </p14:sldIdLst>
        </p14:section>
        <p14:section name="Next Steps" id="{B959F7D5-603D-42C3-9299-CD09F4CA9265}">
          <p14:sldIdLst>
            <p14:sldId id="2578"/>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C37DE-DECE-4789-B386-1902F0351BF4}" v="22" dt="2025-12-05T06:48:44.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4660"/>
  </p:normalViewPr>
  <p:slideViewPr>
    <p:cSldViewPr>
      <p:cViewPr varScale="1">
        <p:scale>
          <a:sx n="93" d="100"/>
          <a:sy n="93" d="100"/>
        </p:scale>
        <p:origin x="90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CF33A-7B67-45AD-845E-179155D2C7FD}" type="datetimeFigureOut">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BBF32-38AC-41C3-AC0D-65540CFC6518}" type="slidenum">
              <a:t>‹#›</a:t>
            </a:fld>
            <a:endParaRPr lang="en-US"/>
          </a:p>
        </p:txBody>
      </p:sp>
    </p:spTree>
    <p:extLst>
      <p:ext uri="{BB962C8B-B14F-4D97-AF65-F5344CB8AC3E}">
        <p14:creationId xmlns:p14="http://schemas.microsoft.com/office/powerpoint/2010/main" val="3282996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6EE745DA-1CA1-4907-9EBA-9C006405BE34}" type="slidenum">
              <a:t>1</a:t>
            </a:fld>
            <a:endParaRPr lang="en-US"/>
          </a:p>
        </p:txBody>
      </p:sp>
    </p:spTree>
    <p:extLst>
      <p:ext uri="{BB962C8B-B14F-4D97-AF65-F5344CB8AC3E}">
        <p14:creationId xmlns:p14="http://schemas.microsoft.com/office/powerpoint/2010/main" val="3093834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Agenda Overview</a:t>
            </a:r>
          </a:p>
        </p:txBody>
      </p:sp>
      <p:sp>
        <p:nvSpPr>
          <p:cNvPr id="4" name="Slide Number Placeholder 3"/>
          <p:cNvSpPr>
            <a:spLocks noGrp="1"/>
          </p:cNvSpPr>
          <p:nvPr>
            <p:ph type="sldNum" sz="quarter" idx="5"/>
          </p:nvPr>
        </p:nvSpPr>
        <p:spPr/>
        <p:txBody>
          <a:bodyPr/>
          <a:lstStyle/>
          <a:p>
            <a:fld id="{6EE745DA-1CA1-4907-9EBA-9C006405BE34}" type="slidenum">
              <a:t>2</a:t>
            </a:fld>
            <a:endParaRPr lang="en-US"/>
          </a:p>
        </p:txBody>
      </p:sp>
    </p:spTree>
    <p:extLst>
      <p:ext uri="{BB962C8B-B14F-4D97-AF65-F5344CB8AC3E}">
        <p14:creationId xmlns:p14="http://schemas.microsoft.com/office/powerpoint/2010/main" val="2243182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agenda for this presentation sets the stage for understanding the AI-driven approach to transition management and risk tracking. It includes an introduction to the concept, objectives of implementing AI in transition processes, a solution overview, key features of the proposed system, risk management strategies, and the benefits of adopting this approach. Finally, it outlines next steps for implementation. This structured agenda ensures that stakeholders gain a comprehensive understanding of how AI can transform traditional transition management practices into proactive, data-driven processes that minimize risks and enhance efficiency.</a:t>
            </a:r>
          </a:p>
        </p:txBody>
      </p:sp>
      <p:sp>
        <p:nvSpPr>
          <p:cNvPr id="4" name="Slide Number Placeholder 3"/>
          <p:cNvSpPr>
            <a:spLocks noGrp="1"/>
          </p:cNvSpPr>
          <p:nvPr>
            <p:ph type="sldNum" sz="quarter" idx="5"/>
          </p:nvPr>
        </p:nvSpPr>
        <p:spPr/>
        <p:txBody>
          <a:bodyPr/>
          <a:lstStyle/>
          <a:p>
            <a:fld id="{6EE745DA-1CA1-4907-9EBA-9C006405BE34}" type="slidenum">
              <a:t>3</a:t>
            </a:fld>
            <a:endParaRPr lang="en-US"/>
          </a:p>
        </p:txBody>
      </p:sp>
    </p:spTree>
    <p:extLst>
      <p:ext uri="{BB962C8B-B14F-4D97-AF65-F5344CB8AC3E}">
        <p14:creationId xmlns:p14="http://schemas.microsoft.com/office/powerpoint/2010/main" val="4134298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in Transition Management</a:t>
            </a:r>
          </a:p>
        </p:txBody>
      </p:sp>
      <p:sp>
        <p:nvSpPr>
          <p:cNvPr id="4" name="Slide Number Placeholder 3"/>
          <p:cNvSpPr>
            <a:spLocks noGrp="1"/>
          </p:cNvSpPr>
          <p:nvPr>
            <p:ph type="sldNum" sz="quarter" idx="5"/>
          </p:nvPr>
        </p:nvSpPr>
        <p:spPr/>
        <p:txBody>
          <a:bodyPr/>
          <a:lstStyle/>
          <a:p>
            <a:fld id="{6EE745DA-1CA1-4907-9EBA-9C006405BE34}" type="slidenum">
              <a:t>4</a:t>
            </a:fld>
            <a:endParaRPr lang="en-US"/>
          </a:p>
        </p:txBody>
      </p:sp>
    </p:spTree>
    <p:extLst>
      <p:ext uri="{BB962C8B-B14F-4D97-AF65-F5344CB8AC3E}">
        <p14:creationId xmlns:p14="http://schemas.microsoft.com/office/powerpoint/2010/main" val="3854345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Organizations face several challenges during transition phases, including manual risk tracking that often leads to delayed escalations and limited visibility into progress. Dependencies on SME availability and timely client feedback further complicate the process, while poor input data quality can undermine decision-making. These issues result in inefficiencies, increased risk exposure, and potential delays in project timelines. Addressing these challenges requires a robust, automated solution that leverages AI to provide real-time insights, predictive analytics, and streamlined communication among stakeholders.</a:t>
            </a:r>
          </a:p>
        </p:txBody>
      </p:sp>
      <p:sp>
        <p:nvSpPr>
          <p:cNvPr id="4" name="Slide Number Placeholder 3"/>
          <p:cNvSpPr>
            <a:spLocks noGrp="1"/>
          </p:cNvSpPr>
          <p:nvPr>
            <p:ph type="sldNum" sz="quarter" idx="5"/>
          </p:nvPr>
        </p:nvSpPr>
        <p:spPr/>
        <p:txBody>
          <a:bodyPr/>
          <a:lstStyle/>
          <a:p>
            <a:fld id="{6EE745DA-1CA1-4907-9EBA-9C006405BE34}" type="slidenum">
              <a:t>5</a:t>
            </a:fld>
            <a:endParaRPr lang="en-US"/>
          </a:p>
        </p:txBody>
      </p:sp>
    </p:spTree>
    <p:extLst>
      <p:ext uri="{BB962C8B-B14F-4D97-AF65-F5344CB8AC3E}">
        <p14:creationId xmlns:p14="http://schemas.microsoft.com/office/powerpoint/2010/main" val="1252409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Goals of AI Integration</a:t>
            </a:r>
          </a:p>
        </p:txBody>
      </p:sp>
      <p:sp>
        <p:nvSpPr>
          <p:cNvPr id="4" name="Slide Number Placeholder 3"/>
          <p:cNvSpPr>
            <a:spLocks noGrp="1"/>
          </p:cNvSpPr>
          <p:nvPr>
            <p:ph type="sldNum" sz="quarter" idx="5"/>
          </p:nvPr>
        </p:nvSpPr>
        <p:spPr/>
        <p:txBody>
          <a:bodyPr/>
          <a:lstStyle/>
          <a:p>
            <a:fld id="{6EE745DA-1CA1-4907-9EBA-9C006405BE34}" type="slidenum">
              <a:t>6</a:t>
            </a:fld>
            <a:endParaRPr lang="en-US"/>
          </a:p>
        </p:txBody>
      </p:sp>
    </p:spTree>
    <p:extLst>
      <p:ext uri="{BB962C8B-B14F-4D97-AF65-F5344CB8AC3E}">
        <p14:creationId xmlns:p14="http://schemas.microsoft.com/office/powerpoint/2010/main" val="576240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objectives of integrating AI into transition management include automating tracking processes to reduce manual effort, predicting and mitigating risks proactively, and improving stakeholder engagement through transparent reporting. Additionally, the system aims to ensure timely reviews and compliance with governance standards. By achieving these goals, organizations can enhance operational efficiency, reduce risk exposure, and foster a culture of accountability and responsiveness throughout the transition lifecycle.</a:t>
            </a:r>
          </a:p>
        </p:txBody>
      </p:sp>
      <p:sp>
        <p:nvSpPr>
          <p:cNvPr id="4" name="Slide Number Placeholder 3"/>
          <p:cNvSpPr>
            <a:spLocks noGrp="1"/>
          </p:cNvSpPr>
          <p:nvPr>
            <p:ph type="sldNum" sz="quarter" idx="5"/>
          </p:nvPr>
        </p:nvSpPr>
        <p:spPr/>
        <p:txBody>
          <a:bodyPr/>
          <a:lstStyle/>
          <a:p>
            <a:fld id="{6EE745DA-1CA1-4907-9EBA-9C006405BE34}" type="slidenum">
              <a:t>7</a:t>
            </a:fld>
            <a:endParaRPr lang="en-US"/>
          </a:p>
        </p:txBody>
      </p:sp>
    </p:spTree>
    <p:extLst>
      <p:ext uri="{BB962C8B-B14F-4D97-AF65-F5344CB8AC3E}">
        <p14:creationId xmlns:p14="http://schemas.microsoft.com/office/powerpoint/2010/main" val="84759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Agent Capabilities</a:t>
            </a:r>
          </a:p>
        </p:txBody>
      </p:sp>
      <p:sp>
        <p:nvSpPr>
          <p:cNvPr id="4" name="Slide Number Placeholder 3"/>
          <p:cNvSpPr>
            <a:spLocks noGrp="1"/>
          </p:cNvSpPr>
          <p:nvPr>
            <p:ph type="sldNum" sz="quarter" idx="5"/>
          </p:nvPr>
        </p:nvSpPr>
        <p:spPr/>
        <p:txBody>
          <a:bodyPr/>
          <a:lstStyle/>
          <a:p>
            <a:fld id="{6EE745DA-1CA1-4907-9EBA-9C006405BE34}" type="slidenum">
              <a:t>8</a:t>
            </a:fld>
            <a:endParaRPr lang="en-US"/>
          </a:p>
        </p:txBody>
      </p:sp>
    </p:spTree>
    <p:extLst>
      <p:ext uri="{BB962C8B-B14F-4D97-AF65-F5344CB8AC3E}">
        <p14:creationId xmlns:p14="http://schemas.microsoft.com/office/powerpoint/2010/main" val="2574955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AI-driven solution offers a range of capabilities designed to streamline transition management. It monitors milestones, tracks risks and dependencies, and provides predictive alerts to prevent potential issues before they escalate. The system also generates comprehensive dashboards and reports, enabling stakeholders to make informed decisions quickly. By leveraging AI Foundry LLMs and advanced analytics, the solution ensures that transition processes are not only efficient but also resilient to unforeseen challenges.</a:t>
            </a:r>
          </a:p>
        </p:txBody>
      </p:sp>
      <p:sp>
        <p:nvSpPr>
          <p:cNvPr id="4" name="Slide Number Placeholder 3"/>
          <p:cNvSpPr>
            <a:spLocks noGrp="1"/>
          </p:cNvSpPr>
          <p:nvPr>
            <p:ph type="sldNum" sz="quarter" idx="5"/>
          </p:nvPr>
        </p:nvSpPr>
        <p:spPr/>
        <p:txBody>
          <a:bodyPr/>
          <a:lstStyle/>
          <a:p>
            <a:fld id="{6EE745DA-1CA1-4907-9EBA-9C006405BE34}" type="slidenum">
              <a:t>9</a:t>
            </a:fld>
            <a:endParaRPr lang="en-US"/>
          </a:p>
        </p:txBody>
      </p:sp>
    </p:spTree>
    <p:extLst>
      <p:ext uri="{BB962C8B-B14F-4D97-AF65-F5344CB8AC3E}">
        <p14:creationId xmlns:p14="http://schemas.microsoft.com/office/powerpoint/2010/main" val="1712044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Architecture and Workflow</a:t>
            </a:r>
          </a:p>
        </p:txBody>
      </p:sp>
      <p:sp>
        <p:nvSpPr>
          <p:cNvPr id="4" name="Slide Number Placeholder 3"/>
          <p:cNvSpPr>
            <a:spLocks noGrp="1"/>
          </p:cNvSpPr>
          <p:nvPr>
            <p:ph type="sldNum" sz="quarter" idx="5"/>
          </p:nvPr>
        </p:nvSpPr>
        <p:spPr/>
        <p:txBody>
          <a:bodyPr/>
          <a:lstStyle/>
          <a:p>
            <a:fld id="{6EE745DA-1CA1-4907-9EBA-9C006405BE34}" type="slidenum">
              <a:t>10</a:t>
            </a:fld>
            <a:endParaRPr lang="en-US"/>
          </a:p>
        </p:txBody>
      </p:sp>
    </p:spTree>
    <p:extLst>
      <p:ext uri="{BB962C8B-B14F-4D97-AF65-F5344CB8AC3E}">
        <p14:creationId xmlns:p14="http://schemas.microsoft.com/office/powerpoint/2010/main" val="3882751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architecture of the AI-driven transition management system comprises several key components: an AI Foundry LLM for intelligent insights, a data ingestion layer for validating input quality, a risk scoring engine for assessing potential threats, and a visualization dashboard for real-time monitoring. The workflow begins with data collection, which is processed by the AI agent to generate actionable risk insights. These insights are then communicated to stakeholders through intuitive dashboards, ensuring timely interventions and informed decision-making.</a:t>
            </a:r>
          </a:p>
        </p:txBody>
      </p:sp>
      <p:sp>
        <p:nvSpPr>
          <p:cNvPr id="4" name="Slide Number Placeholder 3"/>
          <p:cNvSpPr>
            <a:spLocks noGrp="1"/>
          </p:cNvSpPr>
          <p:nvPr>
            <p:ph type="sldNum" sz="quarter" idx="5"/>
          </p:nvPr>
        </p:nvSpPr>
        <p:spPr/>
        <p:txBody>
          <a:bodyPr/>
          <a:lstStyle/>
          <a:p>
            <a:fld id="{6EE745DA-1CA1-4907-9EBA-9C006405BE34}" type="slidenum">
              <a:t>11</a:t>
            </a:fld>
            <a:endParaRPr lang="en-US"/>
          </a:p>
        </p:txBody>
      </p:sp>
    </p:spTree>
    <p:extLst>
      <p:ext uri="{BB962C8B-B14F-4D97-AF65-F5344CB8AC3E}">
        <p14:creationId xmlns:p14="http://schemas.microsoft.com/office/powerpoint/2010/main" val="2655827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Capabilities for Risk Management</a:t>
            </a:r>
          </a:p>
        </p:txBody>
      </p:sp>
      <p:sp>
        <p:nvSpPr>
          <p:cNvPr id="4" name="Slide Number Placeholder 3"/>
          <p:cNvSpPr>
            <a:spLocks noGrp="1"/>
          </p:cNvSpPr>
          <p:nvPr>
            <p:ph type="sldNum" sz="quarter" idx="5"/>
          </p:nvPr>
        </p:nvSpPr>
        <p:spPr/>
        <p:txBody>
          <a:bodyPr/>
          <a:lstStyle/>
          <a:p>
            <a:fld id="{6EE745DA-1CA1-4907-9EBA-9C006405BE34}" type="slidenum">
              <a:t>12</a:t>
            </a:fld>
            <a:endParaRPr lang="en-US"/>
          </a:p>
        </p:txBody>
      </p:sp>
    </p:spTree>
    <p:extLst>
      <p:ext uri="{BB962C8B-B14F-4D97-AF65-F5344CB8AC3E}">
        <p14:creationId xmlns:p14="http://schemas.microsoft.com/office/powerpoint/2010/main" val="3335410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risk tracking module offers real-time identification of potential issues, automated escalation workflows to ensure timely resolution, and seamless integration with existing project management tools. Predictive analytics enable the system to forecast risk trends, allowing organizations to take preventive measures before problems arise. These features collectively enhance the organization's ability to manage risks proactively, reducing the likelihood of delays and cost overruns during transitions.</a:t>
            </a:r>
          </a:p>
        </p:txBody>
      </p:sp>
      <p:sp>
        <p:nvSpPr>
          <p:cNvPr id="4" name="Slide Number Placeholder 3"/>
          <p:cNvSpPr>
            <a:spLocks noGrp="1"/>
          </p:cNvSpPr>
          <p:nvPr>
            <p:ph type="sldNum" sz="quarter" idx="5"/>
          </p:nvPr>
        </p:nvSpPr>
        <p:spPr/>
        <p:txBody>
          <a:bodyPr/>
          <a:lstStyle/>
          <a:p>
            <a:fld id="{6EE745DA-1CA1-4907-9EBA-9C006405BE34}" type="slidenum">
              <a:t>13</a:t>
            </a:fld>
            <a:endParaRPr lang="en-US"/>
          </a:p>
        </p:txBody>
      </p:sp>
    </p:spTree>
    <p:extLst>
      <p:ext uri="{BB962C8B-B14F-4D97-AF65-F5344CB8AC3E}">
        <p14:creationId xmlns:p14="http://schemas.microsoft.com/office/powerpoint/2010/main" val="3665463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Capabilities for Transition Oversight</a:t>
            </a:r>
          </a:p>
        </p:txBody>
      </p:sp>
      <p:sp>
        <p:nvSpPr>
          <p:cNvPr id="4" name="Slide Number Placeholder 3"/>
          <p:cNvSpPr>
            <a:spLocks noGrp="1"/>
          </p:cNvSpPr>
          <p:nvPr>
            <p:ph type="sldNum" sz="quarter" idx="5"/>
          </p:nvPr>
        </p:nvSpPr>
        <p:spPr/>
        <p:txBody>
          <a:bodyPr/>
          <a:lstStyle/>
          <a:p>
            <a:fld id="{6EE745DA-1CA1-4907-9EBA-9C006405BE34}" type="slidenum">
              <a:t>14</a:t>
            </a:fld>
            <a:endParaRPr lang="en-US"/>
          </a:p>
        </p:txBody>
      </p:sp>
    </p:spTree>
    <p:extLst>
      <p:ext uri="{BB962C8B-B14F-4D97-AF65-F5344CB8AC3E}">
        <p14:creationId xmlns:p14="http://schemas.microsoft.com/office/powerpoint/2010/main" val="3477166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transition management module focuses on improving stakeholder coordination and process efficiency. It tracks stakeholder availability, sends timely review reminders, and maintains a knowledge repository for SMEs to ensure continuity. Additionally, it automates compliance checklists, reducing manual effort and minimizing errors. These features enable organizations to manage transitions smoothly, even in complex environments with multiple dependencies and tight timelines.</a:t>
            </a:r>
          </a:p>
        </p:txBody>
      </p:sp>
      <p:sp>
        <p:nvSpPr>
          <p:cNvPr id="4" name="Slide Number Placeholder 3"/>
          <p:cNvSpPr>
            <a:spLocks noGrp="1"/>
          </p:cNvSpPr>
          <p:nvPr>
            <p:ph type="sldNum" sz="quarter" idx="5"/>
          </p:nvPr>
        </p:nvSpPr>
        <p:spPr/>
        <p:txBody>
          <a:bodyPr/>
          <a:lstStyle/>
          <a:p>
            <a:fld id="{6EE745DA-1CA1-4907-9EBA-9C006405BE34}" type="slidenum">
              <a:t>15</a:t>
            </a:fld>
            <a:endParaRPr lang="en-US"/>
          </a:p>
        </p:txBody>
      </p:sp>
    </p:spTree>
    <p:extLst>
      <p:ext uri="{BB962C8B-B14F-4D97-AF65-F5344CB8AC3E}">
        <p14:creationId xmlns:p14="http://schemas.microsoft.com/office/powerpoint/2010/main" val="4239256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Advantages of AI-Driven Approach</a:t>
            </a:r>
          </a:p>
        </p:txBody>
      </p:sp>
      <p:sp>
        <p:nvSpPr>
          <p:cNvPr id="4" name="Slide Number Placeholder 3"/>
          <p:cNvSpPr>
            <a:spLocks noGrp="1"/>
          </p:cNvSpPr>
          <p:nvPr>
            <p:ph type="sldNum" sz="quarter" idx="5"/>
          </p:nvPr>
        </p:nvSpPr>
        <p:spPr/>
        <p:txBody>
          <a:bodyPr/>
          <a:lstStyle/>
          <a:p>
            <a:fld id="{6EE745DA-1CA1-4907-9EBA-9C006405BE34}" type="slidenum">
              <a:t>16</a:t>
            </a:fld>
            <a:endParaRPr lang="en-US"/>
          </a:p>
        </p:txBody>
      </p:sp>
    </p:spTree>
    <p:extLst>
      <p:ext uri="{BB962C8B-B14F-4D97-AF65-F5344CB8AC3E}">
        <p14:creationId xmlns:p14="http://schemas.microsoft.com/office/powerpoint/2010/main" val="2782412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Implementing an AI-driven transition management and risk tracking system offers numerous benefits. It reduces delays by automating routine tasks and providing predictive alerts, improves visibility into risks and progress, and enhances client confidence through transparent reporting. Furthermore, it enables data-driven decision-making, ensuring that every action is backed by accurate insights. These advantages collectively contribute to higher efficiency, reduced costs, and improved project outcomes.</a:t>
            </a:r>
          </a:p>
        </p:txBody>
      </p:sp>
      <p:sp>
        <p:nvSpPr>
          <p:cNvPr id="4" name="Slide Number Placeholder 3"/>
          <p:cNvSpPr>
            <a:spLocks noGrp="1"/>
          </p:cNvSpPr>
          <p:nvPr>
            <p:ph type="sldNum" sz="quarter" idx="5"/>
          </p:nvPr>
        </p:nvSpPr>
        <p:spPr/>
        <p:txBody>
          <a:bodyPr/>
          <a:lstStyle/>
          <a:p>
            <a:fld id="{6EE745DA-1CA1-4907-9EBA-9C006405BE34}" type="slidenum">
              <a:t>17</a:t>
            </a:fld>
            <a:endParaRPr lang="en-US"/>
          </a:p>
        </p:txBody>
      </p:sp>
    </p:spTree>
    <p:extLst>
      <p:ext uri="{BB962C8B-B14F-4D97-AF65-F5344CB8AC3E}">
        <p14:creationId xmlns:p14="http://schemas.microsoft.com/office/powerpoint/2010/main" val="30787490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Implementation Roadmap</a:t>
            </a:r>
          </a:p>
        </p:txBody>
      </p:sp>
      <p:sp>
        <p:nvSpPr>
          <p:cNvPr id="4" name="Slide Number Placeholder 3"/>
          <p:cNvSpPr>
            <a:spLocks noGrp="1"/>
          </p:cNvSpPr>
          <p:nvPr>
            <p:ph type="sldNum" sz="quarter" idx="5"/>
          </p:nvPr>
        </p:nvSpPr>
        <p:spPr/>
        <p:txBody>
          <a:bodyPr/>
          <a:lstStyle/>
          <a:p>
            <a:fld id="{6EE745DA-1CA1-4907-9EBA-9C006405BE34}" type="slidenum">
              <a:t>18</a:t>
            </a:fld>
            <a:endParaRPr lang="en-US"/>
          </a:p>
        </p:txBody>
      </p:sp>
    </p:spTree>
    <p:extLst>
      <p:ext uri="{BB962C8B-B14F-4D97-AF65-F5344CB8AC3E}">
        <p14:creationId xmlns:p14="http://schemas.microsoft.com/office/powerpoint/2010/main" val="1443168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next steps for implementing the AI-driven solution include finalizing the system architecture and access requirements, conducting a pilot program with selected transitions to validate functionality, and scaling the solution across multiple programs. These steps will ensure a smooth rollout and allow for iterative improvements based on real-world feedback, ultimately leading to a robust and scalable transition management framework.</a:t>
            </a:r>
          </a:p>
        </p:txBody>
      </p:sp>
      <p:sp>
        <p:nvSpPr>
          <p:cNvPr id="4" name="Slide Number Placeholder 3"/>
          <p:cNvSpPr>
            <a:spLocks noGrp="1"/>
          </p:cNvSpPr>
          <p:nvPr>
            <p:ph type="sldNum" sz="quarter" idx="5"/>
          </p:nvPr>
        </p:nvSpPr>
        <p:spPr/>
        <p:txBody>
          <a:bodyPr/>
          <a:lstStyle/>
          <a:p>
            <a:fld id="{6EE745DA-1CA1-4907-9EBA-9C006405BE34}" type="slidenum">
              <a:t>19</a:t>
            </a:fld>
            <a:endParaRPr lang="en-US"/>
          </a:p>
        </p:txBody>
      </p:sp>
    </p:spTree>
    <p:extLst>
      <p:ext uri="{BB962C8B-B14F-4D97-AF65-F5344CB8AC3E}">
        <p14:creationId xmlns:p14="http://schemas.microsoft.com/office/powerpoint/2010/main" val="9737940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12/4/2025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12/4/2025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endParaRPr lang="en-US" dirty="0"/>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12/4/2025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12/4/2025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12/4/2025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12/4/2025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12/4/2025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62114570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12/4/2025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12/4/2025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12/4/2025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12/4/2025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12/4/2025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12/4/2025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12/4/2025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12/4/2025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0F0F0-9446-C54D-7EDD-B867125EE824}"/>
              </a:ext>
            </a:extLst>
          </p:cNvPr>
          <p:cNvSpPr>
            <a:spLocks noGrp="1"/>
          </p:cNvSpPr>
          <p:nvPr>
            <p:ph type="ctrTitle"/>
          </p:nvPr>
        </p:nvSpPr>
        <p:spPr>
          <a:xfrm>
            <a:off x="522732" y="4965192"/>
            <a:ext cx="11146536" cy="786384"/>
          </a:xfrm>
        </p:spPr>
        <p:txBody>
          <a:bodyPr anchor="b">
            <a:normAutofit/>
          </a:bodyPr>
          <a:lstStyle/>
          <a:p>
            <a:r>
              <a:rPr lang="en-US"/>
              <a:t>AI-Driven Transition Management &amp; Risk Tracking Agent</a:t>
            </a:r>
          </a:p>
        </p:txBody>
      </p:sp>
      <p:sp>
        <p:nvSpPr>
          <p:cNvPr id="3" name="Subtitle 2">
            <a:extLst>
              <a:ext uri="{FF2B5EF4-FFF2-40B4-BE49-F238E27FC236}">
                <a16:creationId xmlns:a16="http://schemas.microsoft.com/office/drawing/2014/main" id="{2F939F88-C70A-BDA4-BCF8-3A5CB37EB9FE}"/>
              </a:ext>
            </a:extLst>
          </p:cNvPr>
          <p:cNvSpPr>
            <a:spLocks noGrp="1"/>
          </p:cNvSpPr>
          <p:nvPr>
            <p:ph type="subTitle" idx="1"/>
          </p:nvPr>
        </p:nvSpPr>
        <p:spPr>
          <a:xfrm>
            <a:off x="1143000" y="5806440"/>
            <a:ext cx="9902952" cy="576072"/>
          </a:xfrm>
        </p:spPr>
        <p:txBody>
          <a:bodyPr anchor="t">
            <a:normAutofit/>
          </a:bodyPr>
          <a:lstStyle/>
          <a:p>
            <a:r>
              <a:rPr lang="en-US"/>
              <a:t>Advanced artificial intelligence optimizing change and risk monitoring</a:t>
            </a:r>
          </a:p>
        </p:txBody>
      </p:sp>
      <p:pic>
        <p:nvPicPr>
          <p:cNvPr id="4" name="Picture 3" descr="A digitally rendered city with numbers">
            <a:extLst>
              <a:ext uri="{FF2B5EF4-FFF2-40B4-BE49-F238E27FC236}">
                <a16:creationId xmlns:a16="http://schemas.microsoft.com/office/drawing/2014/main" id="{BFDF50CA-9611-42F8-AB3E-8476E413F04F}"/>
              </a:ext>
            </a:extLst>
          </p:cNvPr>
          <p:cNvPicPr>
            <a:picLocks noChangeAspect="1"/>
          </p:cNvPicPr>
          <p:nvPr/>
        </p:nvPicPr>
        <p:blipFill>
          <a:blip r:embed="rId3"/>
          <a:srcRect t="17024" r="-1" b="13101"/>
          <a:stretch>
            <a:fillRect/>
          </a:stretch>
        </p:blipFill>
        <p:spPr>
          <a:xfrm>
            <a:off x="20" y="10"/>
            <a:ext cx="12188932" cy="4492669"/>
          </a:xfrm>
          <a:prstGeom prst="rect">
            <a:avLst/>
          </a:prstGeom>
          <a:noFill/>
        </p:spPr>
      </p:pic>
    </p:spTree>
    <p:extLst>
      <p:ext uri="{BB962C8B-B14F-4D97-AF65-F5344CB8AC3E}">
        <p14:creationId xmlns:p14="http://schemas.microsoft.com/office/powerpoint/2010/main" val="415470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87291-297D-0E4E-C036-65BD14986F30}"/>
              </a:ext>
            </a:extLst>
          </p:cNvPr>
          <p:cNvSpPr>
            <a:spLocks noGrp="1"/>
          </p:cNvSpPr>
          <p:nvPr>
            <p:ph type="title"/>
          </p:nvPr>
        </p:nvSpPr>
        <p:spPr>
          <a:xfrm>
            <a:off x="612648" y="2093976"/>
            <a:ext cx="8229600" cy="4178808"/>
          </a:xfrm>
        </p:spPr>
        <p:txBody>
          <a:bodyPr anchor="b">
            <a:normAutofit/>
          </a:bodyPr>
          <a:lstStyle/>
          <a:p>
            <a:r>
              <a:rPr lang="en-US"/>
              <a:t>Introduction and Agenda</a:t>
            </a:r>
          </a:p>
        </p:txBody>
      </p:sp>
    </p:spTree>
    <p:extLst>
      <p:ext uri="{BB962C8B-B14F-4D97-AF65-F5344CB8AC3E}">
        <p14:creationId xmlns:p14="http://schemas.microsoft.com/office/powerpoint/2010/main" val="3141695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0C669-57B8-396E-184D-5B174B6B3058}"/>
              </a:ext>
            </a:extLst>
          </p:cNvPr>
          <p:cNvSpPr>
            <a:spLocks noGrp="1"/>
          </p:cNvSpPr>
          <p:nvPr>
            <p:ph type="title"/>
          </p:nvPr>
        </p:nvSpPr>
        <p:spPr>
          <a:xfrm>
            <a:off x="612648" y="502920"/>
            <a:ext cx="4669536" cy="1453896"/>
          </a:xfrm>
        </p:spPr>
        <p:txBody>
          <a:bodyPr anchor="t">
            <a:normAutofit/>
          </a:bodyPr>
          <a:lstStyle/>
          <a:p>
            <a:r>
              <a:rPr lang="en-US"/>
              <a:t>Agenda Overview</a:t>
            </a:r>
          </a:p>
        </p:txBody>
      </p:sp>
      <p:pic>
        <p:nvPicPr>
          <p:cNvPr id="5" name="Content Placeholder 4" descr="Shot of a group of programmers working together on a computer code at night">
            <a:extLst>
              <a:ext uri="{FF2B5EF4-FFF2-40B4-BE49-F238E27FC236}">
                <a16:creationId xmlns:a16="http://schemas.microsoft.com/office/drawing/2014/main" id="{741E78EB-3313-4B5D-92CE-086AD25DB8D0}"/>
              </a:ext>
            </a:extLst>
          </p:cNvPr>
          <p:cNvPicPr>
            <a:picLocks noGrp="1" noChangeAspect="1"/>
          </p:cNvPicPr>
          <p:nvPr>
            <p:ph type="pic" sz="quarter" idx="15"/>
          </p:nvPr>
        </p:nvPicPr>
        <p:blipFill>
          <a:blip r:embed="rId3"/>
          <a:srcRect l="22553" r="-2"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7F63C008-F99C-5883-8B09-DE414C212CB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AI-Driven Transition Management</a:t>
            </a:r>
          </a:p>
          <a:p>
            <a:pPr marL="0" lvl="1" indent="0">
              <a:buFont typeface="Arial" panose="020B0604020202020204" pitchFamily="34" charset="0"/>
              <a:buNone/>
            </a:pPr>
            <a:r>
              <a:t>The agenda introduces AI-based methods to improve transition management and risk tracking processes effectively.</a:t>
            </a:r>
            <a:endParaRPr lang="en-US"/>
          </a:p>
          <a:p>
            <a:pPr marL="0" indent="0">
              <a:spcBef>
                <a:spcPts val="2500"/>
              </a:spcBef>
              <a:buFont typeface="Arial" panose="020B0604020202020204" pitchFamily="34" charset="0"/>
              <a:buNone/>
            </a:pPr>
            <a:r>
              <a:rPr lang="en-US" b="1"/>
              <a:t>Objectives and Solutions</a:t>
            </a:r>
          </a:p>
          <a:p>
            <a:pPr marL="0" lvl="1" indent="0">
              <a:buFont typeface="Arial" panose="020B0604020202020204" pitchFamily="34" charset="0"/>
              <a:buNone/>
            </a:pPr>
            <a:r>
              <a:t>Key objectives include implementing AI to enhance transition efficiency and presenting an overview of the AI solution.</a:t>
            </a:r>
            <a:endParaRPr lang="en-US"/>
          </a:p>
          <a:p>
            <a:pPr marL="0" indent="0">
              <a:spcBef>
                <a:spcPts val="2500"/>
              </a:spcBef>
              <a:buFont typeface="Arial" panose="020B0604020202020204" pitchFamily="34" charset="0"/>
              <a:buNone/>
            </a:pPr>
            <a:r>
              <a:rPr lang="en-US" b="1"/>
              <a:t>Risk Management Strategies</a:t>
            </a:r>
          </a:p>
          <a:p>
            <a:pPr marL="0" lvl="1" indent="0">
              <a:buFont typeface="Arial" panose="020B0604020202020204" pitchFamily="34" charset="0"/>
              <a:buNone/>
            </a:pPr>
            <a:r>
              <a:t>Focus on proactive risk management strategies enabled by AI to minimize potential issues during transitions.</a:t>
            </a:r>
            <a:endParaRPr lang="en-US"/>
          </a:p>
          <a:p>
            <a:pPr marL="0" indent="0">
              <a:spcBef>
                <a:spcPts val="2500"/>
              </a:spcBef>
              <a:buFont typeface="Arial" panose="020B0604020202020204" pitchFamily="34" charset="0"/>
              <a:buNone/>
            </a:pPr>
            <a:r>
              <a:rPr lang="en-US" b="1"/>
              <a:t>Benefits and Next Steps</a:t>
            </a:r>
          </a:p>
          <a:p>
            <a:pPr marL="0" lvl="1" indent="0">
              <a:buFont typeface="Arial" panose="020B0604020202020204" pitchFamily="34" charset="0"/>
              <a:buNone/>
            </a:pPr>
            <a:r>
              <a:t>Emphasizes benefits of adopting AI and outlines implementation steps for stakeholders to follow.</a:t>
            </a:r>
            <a:endParaRPr lang="en-US"/>
          </a:p>
        </p:txBody>
      </p:sp>
    </p:spTree>
    <p:extLst>
      <p:ext uri="{BB962C8B-B14F-4D97-AF65-F5344CB8AC3E}">
        <p14:creationId xmlns:p14="http://schemas.microsoft.com/office/powerpoint/2010/main" val="114324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C34D7-8B0F-3D41-F02D-CB15C7E3579D}"/>
              </a:ext>
            </a:extLst>
          </p:cNvPr>
          <p:cNvSpPr>
            <a:spLocks noGrp="1"/>
          </p:cNvSpPr>
          <p:nvPr>
            <p:ph type="title"/>
          </p:nvPr>
        </p:nvSpPr>
        <p:spPr>
          <a:xfrm>
            <a:off x="612648" y="2093976"/>
            <a:ext cx="8229600" cy="4178808"/>
          </a:xfrm>
        </p:spPr>
        <p:txBody>
          <a:bodyPr anchor="b">
            <a:normAutofit/>
          </a:bodyPr>
          <a:lstStyle/>
          <a:p>
            <a:r>
              <a:rPr lang="en-US"/>
              <a:t>Current Challenges</a:t>
            </a:r>
          </a:p>
        </p:txBody>
      </p:sp>
    </p:spTree>
    <p:extLst>
      <p:ext uri="{BB962C8B-B14F-4D97-AF65-F5344CB8AC3E}">
        <p14:creationId xmlns:p14="http://schemas.microsoft.com/office/powerpoint/2010/main" val="14537458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ADAA2-BE0E-C521-7701-0AA027EA113B}"/>
              </a:ext>
            </a:extLst>
          </p:cNvPr>
          <p:cNvSpPr>
            <a:spLocks noGrp="1"/>
          </p:cNvSpPr>
          <p:nvPr>
            <p:ph type="title"/>
          </p:nvPr>
        </p:nvSpPr>
        <p:spPr>
          <a:xfrm>
            <a:off x="612648" y="502920"/>
            <a:ext cx="4669536" cy="1453896"/>
          </a:xfrm>
        </p:spPr>
        <p:txBody>
          <a:bodyPr anchor="t">
            <a:normAutofit/>
          </a:bodyPr>
          <a:lstStyle/>
          <a:p>
            <a:r>
              <a:rPr lang="en-US"/>
              <a:t>Challenges in Transition Management</a:t>
            </a:r>
          </a:p>
        </p:txBody>
      </p:sp>
      <p:pic>
        <p:nvPicPr>
          <p:cNvPr id="5" name="Content Placeholder 4" descr="Shot of a young businessman looking stressed out in a demanding office environment">
            <a:extLst>
              <a:ext uri="{FF2B5EF4-FFF2-40B4-BE49-F238E27FC236}">
                <a16:creationId xmlns:a16="http://schemas.microsoft.com/office/drawing/2014/main" id="{339852FB-522E-42C4-8D0F-400BBAF6DB26}"/>
              </a:ext>
            </a:extLst>
          </p:cNvPr>
          <p:cNvPicPr>
            <a:picLocks noGrp="1" noChangeAspect="1"/>
          </p:cNvPicPr>
          <p:nvPr>
            <p:ph type="pic" sz="quarter" idx="15"/>
          </p:nvPr>
        </p:nvPicPr>
        <p:blipFill>
          <a:blip r:embed="rId3"/>
          <a:srcRect l="12652" r="9900"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C1C37ADF-B1B3-95DD-49C3-41B019300A4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Manual Risk Tracking Issues</a:t>
            </a:r>
          </a:p>
          <a:p>
            <a:pPr marL="0" lvl="1" indent="0">
              <a:buFont typeface="Arial" panose="020B0604020202020204" pitchFamily="34" charset="0"/>
              <a:buNone/>
            </a:pPr>
            <a:r>
              <a:t>Manual risk tracking causes delayed escalations and restricts visibility into project progress, increasing risk exposure.</a:t>
            </a:r>
            <a:endParaRPr lang="en-US"/>
          </a:p>
          <a:p>
            <a:pPr marL="0" indent="0">
              <a:spcBef>
                <a:spcPts val="2500"/>
              </a:spcBef>
              <a:buFont typeface="Arial" panose="020B0604020202020204" pitchFamily="34" charset="0"/>
              <a:buNone/>
            </a:pPr>
            <a:r>
              <a:rPr lang="en-US" b="1"/>
              <a:t>Dependency Challenges</a:t>
            </a:r>
          </a:p>
          <a:p>
            <a:pPr marL="0" lvl="1" indent="0">
              <a:buFont typeface="Arial" panose="020B0604020202020204" pitchFamily="34" charset="0"/>
              <a:buNone/>
            </a:pPr>
            <a:r>
              <a:t>Dependence on SME availability and client feedback complicates transition management and causes potential delays.</a:t>
            </a:r>
            <a:endParaRPr lang="en-US"/>
          </a:p>
          <a:p>
            <a:pPr marL="0" indent="0">
              <a:spcBef>
                <a:spcPts val="2500"/>
              </a:spcBef>
              <a:buFont typeface="Arial" panose="020B0604020202020204" pitchFamily="34" charset="0"/>
              <a:buNone/>
            </a:pPr>
            <a:r>
              <a:rPr lang="en-US" b="1"/>
              <a:t>Data Quality Impact</a:t>
            </a:r>
          </a:p>
          <a:p>
            <a:pPr marL="0" lvl="1" indent="0">
              <a:buFont typeface="Arial" panose="020B0604020202020204" pitchFamily="34" charset="0"/>
              <a:buNone/>
            </a:pPr>
            <a:r>
              <a:t>Poor input data quality undermines decision-making, causing inefficiencies and increasing project risks.</a:t>
            </a:r>
            <a:endParaRPr lang="en-US"/>
          </a:p>
          <a:p>
            <a:pPr marL="0" indent="0">
              <a:spcBef>
                <a:spcPts val="2500"/>
              </a:spcBef>
              <a:buFont typeface="Arial" panose="020B0604020202020204" pitchFamily="34" charset="0"/>
              <a:buNone/>
            </a:pPr>
            <a:r>
              <a:rPr lang="en-US" b="1"/>
              <a:t>AI-Driven Solutions</a:t>
            </a:r>
          </a:p>
          <a:p>
            <a:pPr marL="0" lvl="1" indent="0">
              <a:buFont typeface="Arial" panose="020B0604020202020204" pitchFamily="34" charset="0"/>
              <a:buNone/>
            </a:pPr>
            <a:r>
              <a:t>Automated AI solutions offer real-time insights, predictive analytics, and streamlined stakeholder communication.</a:t>
            </a:r>
            <a:endParaRPr lang="en-US"/>
          </a:p>
        </p:txBody>
      </p:sp>
    </p:spTree>
    <p:extLst>
      <p:ext uri="{BB962C8B-B14F-4D97-AF65-F5344CB8AC3E}">
        <p14:creationId xmlns:p14="http://schemas.microsoft.com/office/powerpoint/2010/main" val="24160979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B7E0-C1B6-B110-0714-5DFF475E8410}"/>
              </a:ext>
            </a:extLst>
          </p:cNvPr>
          <p:cNvSpPr>
            <a:spLocks noGrp="1"/>
          </p:cNvSpPr>
          <p:nvPr>
            <p:ph type="title"/>
          </p:nvPr>
        </p:nvSpPr>
        <p:spPr>
          <a:xfrm>
            <a:off x="612648" y="2093976"/>
            <a:ext cx="8229600" cy="4178808"/>
          </a:xfrm>
        </p:spPr>
        <p:txBody>
          <a:bodyPr anchor="b">
            <a:normAutofit/>
          </a:bodyPr>
          <a:lstStyle/>
          <a:p>
            <a:r>
              <a:rPr lang="en-US"/>
              <a:t>Objectives</a:t>
            </a:r>
          </a:p>
        </p:txBody>
      </p:sp>
    </p:spTree>
    <p:extLst>
      <p:ext uri="{BB962C8B-B14F-4D97-AF65-F5344CB8AC3E}">
        <p14:creationId xmlns:p14="http://schemas.microsoft.com/office/powerpoint/2010/main" val="14533302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51456-E214-E13F-AE9E-F29D0F83A2C6}"/>
              </a:ext>
            </a:extLst>
          </p:cNvPr>
          <p:cNvSpPr>
            <a:spLocks noGrp="1"/>
          </p:cNvSpPr>
          <p:nvPr>
            <p:ph type="title"/>
          </p:nvPr>
        </p:nvSpPr>
        <p:spPr>
          <a:xfrm>
            <a:off x="612648" y="502920"/>
            <a:ext cx="4669536" cy="1453896"/>
          </a:xfrm>
        </p:spPr>
        <p:txBody>
          <a:bodyPr anchor="t">
            <a:normAutofit/>
          </a:bodyPr>
          <a:lstStyle/>
          <a:p>
            <a:r>
              <a:rPr lang="en-US"/>
              <a:t>Goals of AI Integration</a:t>
            </a:r>
          </a:p>
        </p:txBody>
      </p:sp>
      <p:pic>
        <p:nvPicPr>
          <p:cNvPr id="5" name="Content Placeholder 4" descr="Rules for compliance with policies business">
            <a:extLst>
              <a:ext uri="{FF2B5EF4-FFF2-40B4-BE49-F238E27FC236}">
                <a16:creationId xmlns:a16="http://schemas.microsoft.com/office/drawing/2014/main" id="{2288C73F-1272-43C5-B1B1-A69E2A0D5C0D}"/>
              </a:ext>
            </a:extLst>
          </p:cNvPr>
          <p:cNvPicPr>
            <a:picLocks noGrp="1" noChangeAspect="1"/>
          </p:cNvPicPr>
          <p:nvPr>
            <p:ph type="pic" sz="quarter" idx="15"/>
          </p:nvPr>
        </p:nvPicPr>
        <p:blipFill>
          <a:blip r:embed="rId3"/>
          <a:stretch/>
        </p:blipFill>
        <p:spPr>
          <a:xfrm>
            <a:off x="612648" y="2747763"/>
            <a:ext cx="4669536" cy="3116915"/>
          </a:xfrm>
          <a:prstGeom prst="rect">
            <a:avLst/>
          </a:prstGeom>
          <a:noFill/>
        </p:spPr>
      </p:pic>
      <p:sp>
        <p:nvSpPr>
          <p:cNvPr id="4" name="Content Placeholder 3">
            <a:extLst>
              <a:ext uri="{FF2B5EF4-FFF2-40B4-BE49-F238E27FC236}">
                <a16:creationId xmlns:a16="http://schemas.microsoft.com/office/drawing/2014/main" id="{7F190690-3A64-B30A-8AE0-44369E9062F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Automated Tracking</a:t>
            </a:r>
          </a:p>
          <a:p>
            <a:pPr marL="0" lvl="1" indent="0">
              <a:buFont typeface="Arial" panose="020B0604020202020204" pitchFamily="34" charset="0"/>
              <a:buNone/>
            </a:pPr>
            <a:r>
              <a:t>AI automates tracking processes, significantly reducing manual effort and increasing accuracy in transition management.</a:t>
            </a:r>
            <a:endParaRPr lang="en-US"/>
          </a:p>
          <a:p>
            <a:pPr marL="0" indent="0">
              <a:spcBef>
                <a:spcPts val="2500"/>
              </a:spcBef>
              <a:buFont typeface="Arial" panose="020B0604020202020204" pitchFamily="34" charset="0"/>
              <a:buNone/>
            </a:pPr>
            <a:r>
              <a:rPr lang="en-US" b="1"/>
              <a:t>Proactive Risk Management</a:t>
            </a:r>
          </a:p>
          <a:p>
            <a:pPr marL="0" lvl="1" indent="0">
              <a:buFont typeface="Arial" panose="020B0604020202020204" pitchFamily="34" charset="0"/>
              <a:buNone/>
            </a:pPr>
            <a:r>
              <a:t>AI predicts and mitigates risks proactively, helping organizations avoid potential issues before they arise.</a:t>
            </a:r>
            <a:endParaRPr lang="en-US"/>
          </a:p>
          <a:p>
            <a:pPr marL="0" indent="0">
              <a:spcBef>
                <a:spcPts val="2500"/>
              </a:spcBef>
              <a:buFont typeface="Arial" panose="020B0604020202020204" pitchFamily="34" charset="0"/>
              <a:buNone/>
            </a:pPr>
            <a:r>
              <a:rPr lang="en-US" b="1"/>
              <a:t>Enhanced Stakeholder Engagement</a:t>
            </a:r>
          </a:p>
          <a:p>
            <a:pPr marL="0" lvl="1" indent="0">
              <a:buFont typeface="Arial" panose="020B0604020202020204" pitchFamily="34" charset="0"/>
              <a:buNone/>
            </a:pPr>
            <a:r>
              <a:t>Transparent reporting powered by AI improves stakeholder communication and engagement throughout transitions.</a:t>
            </a:r>
            <a:endParaRPr lang="en-US"/>
          </a:p>
          <a:p>
            <a:pPr marL="0" indent="0">
              <a:spcBef>
                <a:spcPts val="2500"/>
              </a:spcBef>
              <a:buFont typeface="Arial" panose="020B0604020202020204" pitchFamily="34" charset="0"/>
              <a:buNone/>
            </a:pPr>
            <a:r>
              <a:rPr lang="en-US" b="1"/>
              <a:t>Governance and Compliance</a:t>
            </a:r>
          </a:p>
          <a:p>
            <a:pPr marL="0" lvl="1" indent="0">
              <a:buFont typeface="Arial" panose="020B0604020202020204" pitchFamily="34" charset="0"/>
              <a:buNone/>
            </a:pPr>
            <a:r>
              <a:t>AI ensures timely reviews and compliance with governance standards, maintaining organizational accountability.</a:t>
            </a:r>
            <a:endParaRPr lang="en-US"/>
          </a:p>
        </p:txBody>
      </p:sp>
    </p:spTree>
    <p:extLst>
      <p:ext uri="{BB962C8B-B14F-4D97-AF65-F5344CB8AC3E}">
        <p14:creationId xmlns:p14="http://schemas.microsoft.com/office/powerpoint/2010/main" val="347005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8B92A-F2A5-F7A9-BCF7-FBFEF0A9292C}"/>
              </a:ext>
            </a:extLst>
          </p:cNvPr>
          <p:cNvSpPr>
            <a:spLocks noGrp="1"/>
          </p:cNvSpPr>
          <p:nvPr>
            <p:ph type="title"/>
          </p:nvPr>
        </p:nvSpPr>
        <p:spPr>
          <a:xfrm>
            <a:off x="612648" y="2093976"/>
            <a:ext cx="8229600" cy="4178808"/>
          </a:xfrm>
        </p:spPr>
        <p:txBody>
          <a:bodyPr anchor="b">
            <a:normAutofit/>
          </a:bodyPr>
          <a:lstStyle/>
          <a:p>
            <a:r>
              <a:rPr lang="en-US"/>
              <a:t>Solution Overview</a:t>
            </a:r>
          </a:p>
        </p:txBody>
      </p:sp>
    </p:spTree>
    <p:extLst>
      <p:ext uri="{BB962C8B-B14F-4D97-AF65-F5344CB8AC3E}">
        <p14:creationId xmlns:p14="http://schemas.microsoft.com/office/powerpoint/2010/main" val="4100093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EC44D-AFAA-A352-019A-4D95FDC8588C}"/>
              </a:ext>
            </a:extLst>
          </p:cNvPr>
          <p:cNvSpPr>
            <a:spLocks noGrp="1"/>
          </p:cNvSpPr>
          <p:nvPr>
            <p:ph type="title"/>
          </p:nvPr>
        </p:nvSpPr>
        <p:spPr>
          <a:xfrm>
            <a:off x="612648" y="502920"/>
            <a:ext cx="4669536" cy="1453896"/>
          </a:xfrm>
        </p:spPr>
        <p:txBody>
          <a:bodyPr anchor="t">
            <a:normAutofit/>
          </a:bodyPr>
          <a:lstStyle/>
          <a:p>
            <a:r>
              <a:rPr lang="en-US"/>
              <a:t>AI Agent Capabilities</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B8C9942C-2D5A-4279-94D9-DA695ECEE50A}"/>
              </a:ext>
            </a:extLst>
          </p:cNvPr>
          <p:cNvPicPr>
            <a:picLocks noGrp="1" noChangeAspect="1"/>
          </p:cNvPicPr>
          <p:nvPr>
            <p:ph type="pic" sz="quarter" idx="15"/>
          </p:nvPr>
        </p:nvPicPr>
        <p:blipFill>
          <a:blip r:embed="rId3"/>
          <a:stretch/>
        </p:blipFill>
        <p:spPr>
          <a:xfrm>
            <a:off x="612648" y="2992914"/>
            <a:ext cx="4669536" cy="2626614"/>
          </a:xfrm>
          <a:prstGeom prst="rect">
            <a:avLst/>
          </a:prstGeom>
          <a:noFill/>
        </p:spPr>
      </p:pic>
      <p:sp>
        <p:nvSpPr>
          <p:cNvPr id="4" name="Content Placeholder 3">
            <a:extLst>
              <a:ext uri="{FF2B5EF4-FFF2-40B4-BE49-F238E27FC236}">
                <a16:creationId xmlns:a16="http://schemas.microsoft.com/office/drawing/2014/main" id="{FC81A5C0-FB62-2B19-27A7-732C80198C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Milestone Monitoring</a:t>
            </a:r>
          </a:p>
          <a:p>
            <a:pPr marL="0" lvl="1" indent="0">
              <a:buFont typeface="Arial" panose="020B0604020202020204" pitchFamily="34" charset="0"/>
              <a:buNone/>
            </a:pPr>
            <a:r>
              <a:t>The AI solution continuously monitors key project milestones to ensure timely progress and alignment with goals.</a:t>
            </a:r>
            <a:endParaRPr lang="en-US"/>
          </a:p>
          <a:p>
            <a:pPr marL="0" indent="0">
              <a:spcBef>
                <a:spcPts val="2500"/>
              </a:spcBef>
              <a:buFont typeface="Arial" panose="020B0604020202020204" pitchFamily="34" charset="0"/>
              <a:buNone/>
            </a:pPr>
            <a:r>
              <a:rPr lang="en-US" b="1"/>
              <a:t>Risk and Dependency Tracking</a:t>
            </a:r>
          </a:p>
          <a:p>
            <a:pPr marL="0" lvl="1" indent="0">
              <a:buFont typeface="Arial" panose="020B0604020202020204" pitchFamily="34" charset="0"/>
              <a:buNone/>
            </a:pPr>
            <a:r>
              <a:t>It tracks potential risks and dependencies, helping to identify challenges early and mitigate them proactively.</a:t>
            </a:r>
            <a:endParaRPr lang="en-US"/>
          </a:p>
          <a:p>
            <a:pPr marL="0" indent="0">
              <a:spcBef>
                <a:spcPts val="2500"/>
              </a:spcBef>
              <a:buFont typeface="Arial" panose="020B0604020202020204" pitchFamily="34" charset="0"/>
              <a:buNone/>
            </a:pPr>
            <a:r>
              <a:rPr lang="en-US" b="1"/>
              <a:t>Predictive Alerts</a:t>
            </a:r>
          </a:p>
          <a:p>
            <a:pPr marL="0" lvl="1" indent="0">
              <a:buFont typeface="Arial" panose="020B0604020202020204" pitchFamily="34" charset="0"/>
              <a:buNone/>
            </a:pPr>
            <a:r>
              <a:t>The system provides predictive alerts to prevent issues from escalating, enhancing proactive decision-making.</a:t>
            </a:r>
            <a:endParaRPr lang="en-US"/>
          </a:p>
          <a:p>
            <a:pPr marL="0" indent="0">
              <a:spcBef>
                <a:spcPts val="2500"/>
              </a:spcBef>
              <a:buFont typeface="Arial" panose="020B0604020202020204" pitchFamily="34" charset="0"/>
              <a:buNone/>
            </a:pPr>
            <a:r>
              <a:rPr lang="en-US" b="1"/>
              <a:t>Dashboards and Reporting</a:t>
            </a:r>
          </a:p>
          <a:p>
            <a:pPr marL="0" lvl="1" indent="0">
              <a:buFont typeface="Arial" panose="020B0604020202020204" pitchFamily="34" charset="0"/>
              <a:buNone/>
            </a:pPr>
            <a:r>
              <a:t>Comprehensive dashboards and reports allow stakeholders to quickly access insights and make informed decisions.</a:t>
            </a:r>
            <a:endParaRPr lang="en-US"/>
          </a:p>
        </p:txBody>
      </p:sp>
    </p:spTree>
    <p:extLst>
      <p:ext uri="{BB962C8B-B14F-4D97-AF65-F5344CB8AC3E}">
        <p14:creationId xmlns:p14="http://schemas.microsoft.com/office/powerpoint/2010/main" val="1141702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FDCE-9148-5B05-4D24-EA87DE52F025}"/>
              </a:ext>
            </a:extLst>
          </p:cNvPr>
          <p:cNvSpPr>
            <a:spLocks noGrp="1"/>
          </p:cNvSpPr>
          <p:nvPr>
            <p:ph type="title"/>
          </p:nvPr>
        </p:nvSpPr>
        <p:spPr>
          <a:xfrm>
            <a:off x="612648" y="2093976"/>
            <a:ext cx="8229600" cy="4178808"/>
          </a:xfrm>
        </p:spPr>
        <p:txBody>
          <a:bodyPr anchor="b">
            <a:normAutofit/>
          </a:bodyPr>
          <a:lstStyle/>
          <a:p>
            <a:r>
              <a:rPr lang="en-US"/>
              <a:t>Architecture</a:t>
            </a:r>
          </a:p>
        </p:txBody>
      </p:sp>
    </p:spTree>
    <p:extLst>
      <p:ext uri="{BB962C8B-B14F-4D97-AF65-F5344CB8AC3E}">
        <p14:creationId xmlns:p14="http://schemas.microsoft.com/office/powerpoint/2010/main" val="1152979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20C5E-00FD-DB0B-5CE8-F305093A3A05}"/>
              </a:ext>
            </a:extLst>
          </p:cNvPr>
          <p:cNvSpPr>
            <a:spLocks noGrp="1"/>
          </p:cNvSpPr>
          <p:nvPr>
            <p:ph type="title"/>
          </p:nvPr>
        </p:nvSpPr>
        <p:spPr>
          <a:xfrm>
            <a:off x="612648" y="502920"/>
            <a:ext cx="4669536" cy="1453896"/>
          </a:xfrm>
        </p:spPr>
        <p:txBody>
          <a:bodyPr anchor="t">
            <a:normAutofit/>
          </a:bodyPr>
          <a:lstStyle/>
          <a:p>
            <a:r>
              <a:rPr lang="en-US"/>
              <a:t>System Architecture and Workflow</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51EE5F9E-04BF-4668-9288-852C3E9F0F09}"/>
              </a:ext>
            </a:extLst>
          </p:cNvPr>
          <p:cNvPicPr>
            <a:picLocks noGrp="1" noChangeAspect="1"/>
          </p:cNvPicPr>
          <p:nvPr>
            <p:ph type="pic" sz="quarter" idx="15"/>
          </p:nvPr>
        </p:nvPicPr>
        <p:blipFill>
          <a:blip r:embed="rId3"/>
          <a:srcRect l="20445" r="18352" b="1"/>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417FA87C-1ABA-F6F8-B09B-98FBD084A10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System Components</a:t>
            </a:r>
          </a:p>
          <a:p>
            <a:pPr marL="0" lvl="1" indent="0">
              <a:buFont typeface="Arial" panose="020B0604020202020204" pitchFamily="34" charset="0"/>
              <a:buNone/>
            </a:pPr>
            <a:r>
              <a:t>The system includes AI Foundry LLM, data ingestion, risk scoring engine, and visualization dashboard for efficient management.</a:t>
            </a:r>
            <a:endParaRPr lang="en-US"/>
          </a:p>
          <a:p>
            <a:pPr marL="0" indent="0">
              <a:spcBef>
                <a:spcPts val="2500"/>
              </a:spcBef>
              <a:buFont typeface="Arial" panose="020B0604020202020204" pitchFamily="34" charset="0"/>
              <a:buNone/>
            </a:pPr>
            <a:r>
              <a:rPr lang="en-US" b="1"/>
              <a:t>Data Ingestion and Validation</a:t>
            </a:r>
          </a:p>
          <a:p>
            <a:pPr marL="0" lvl="1" indent="0">
              <a:buFont typeface="Arial" panose="020B0604020202020204" pitchFamily="34" charset="0"/>
              <a:buNone/>
            </a:pPr>
            <a:r>
              <a:t>Data collection is validated through the ingestion layer to ensure high-quality input for accurate risk assessment.</a:t>
            </a:r>
            <a:endParaRPr lang="en-US"/>
          </a:p>
          <a:p>
            <a:pPr marL="0" indent="0">
              <a:spcBef>
                <a:spcPts val="2500"/>
              </a:spcBef>
              <a:buFont typeface="Arial" panose="020B0604020202020204" pitchFamily="34" charset="0"/>
              <a:buNone/>
            </a:pPr>
            <a:r>
              <a:rPr lang="en-US" b="1"/>
              <a:t>Risk Scoring and Insights</a:t>
            </a:r>
          </a:p>
          <a:p>
            <a:pPr marL="0" lvl="1" indent="0">
              <a:buFont typeface="Arial" panose="020B0604020202020204" pitchFamily="34" charset="0"/>
              <a:buNone/>
            </a:pPr>
            <a:r>
              <a:t>Risk scoring engine assesses potential threats and generates actionable risk insights for decision-making.</a:t>
            </a:r>
            <a:endParaRPr lang="en-US"/>
          </a:p>
          <a:p>
            <a:pPr marL="0" indent="0">
              <a:spcBef>
                <a:spcPts val="2500"/>
              </a:spcBef>
              <a:buFont typeface="Arial" panose="020B0604020202020204" pitchFamily="34" charset="0"/>
              <a:buNone/>
            </a:pPr>
            <a:r>
              <a:rPr lang="en-US" b="1"/>
              <a:t>Visualization and Communication</a:t>
            </a:r>
          </a:p>
          <a:p>
            <a:pPr marL="0" lvl="1" indent="0">
              <a:buFont typeface="Arial" panose="020B0604020202020204" pitchFamily="34" charset="0"/>
              <a:buNone/>
            </a:pPr>
            <a:r>
              <a:t>Insights are delivered to stakeholders through real-time, intuitive dashboards for timely interventions.</a:t>
            </a:r>
            <a:endParaRPr lang="en-US"/>
          </a:p>
        </p:txBody>
      </p:sp>
    </p:spTree>
    <p:extLst>
      <p:ext uri="{BB962C8B-B14F-4D97-AF65-F5344CB8AC3E}">
        <p14:creationId xmlns:p14="http://schemas.microsoft.com/office/powerpoint/2010/main" val="8493348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B90E-9E6C-0AAC-1FDE-AD510C03EE91}"/>
              </a:ext>
            </a:extLst>
          </p:cNvPr>
          <p:cNvSpPr>
            <a:spLocks noGrp="1"/>
          </p:cNvSpPr>
          <p:nvPr>
            <p:ph type="title"/>
          </p:nvPr>
        </p:nvSpPr>
        <p:spPr>
          <a:xfrm>
            <a:off x="612648" y="2093976"/>
            <a:ext cx="8229600" cy="4178808"/>
          </a:xfrm>
        </p:spPr>
        <p:txBody>
          <a:bodyPr anchor="b">
            <a:normAutofit/>
          </a:bodyPr>
          <a:lstStyle/>
          <a:p>
            <a:r>
              <a:rPr lang="en-US"/>
              <a:t>Risk Tracking Features</a:t>
            </a:r>
          </a:p>
        </p:txBody>
      </p:sp>
    </p:spTree>
    <p:extLst>
      <p:ext uri="{BB962C8B-B14F-4D97-AF65-F5344CB8AC3E}">
        <p14:creationId xmlns:p14="http://schemas.microsoft.com/office/powerpoint/2010/main" val="4022672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12AD-2466-5008-A9D8-A9833F9A77DE}"/>
              </a:ext>
            </a:extLst>
          </p:cNvPr>
          <p:cNvSpPr>
            <a:spLocks noGrp="1"/>
          </p:cNvSpPr>
          <p:nvPr>
            <p:ph type="title"/>
          </p:nvPr>
        </p:nvSpPr>
        <p:spPr>
          <a:xfrm>
            <a:off x="612648" y="502920"/>
            <a:ext cx="4669536" cy="1453896"/>
          </a:xfrm>
        </p:spPr>
        <p:txBody>
          <a:bodyPr anchor="t">
            <a:normAutofit/>
          </a:bodyPr>
          <a:lstStyle/>
          <a:p>
            <a:r>
              <a:rPr lang="en-US"/>
              <a:t>Capabilities for Risk Management</a:t>
            </a:r>
          </a:p>
        </p:txBody>
      </p:sp>
      <p:pic>
        <p:nvPicPr>
          <p:cNvPr id="5" name="Content Placeholder 4" descr="Credit score report">
            <a:extLst>
              <a:ext uri="{FF2B5EF4-FFF2-40B4-BE49-F238E27FC236}">
                <a16:creationId xmlns:a16="http://schemas.microsoft.com/office/drawing/2014/main" id="{1DCEC81D-8A7E-4BD2-A65E-A5953A7BC68D}"/>
              </a:ext>
            </a:extLst>
          </p:cNvPr>
          <p:cNvPicPr>
            <a:picLocks noGrp="1" noChangeAspect="1"/>
          </p:cNvPicPr>
          <p:nvPr>
            <p:ph type="pic" sz="quarter" idx="15"/>
          </p:nvPr>
        </p:nvPicPr>
        <p:blipFill>
          <a:blip r:embed="rId3"/>
          <a:srcRect t="13267" r="1" b="547"/>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0A02ACF3-A3D9-AFA5-255A-F5AA91F4B22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Real-Time Issue Identification</a:t>
            </a:r>
          </a:p>
          <a:p>
            <a:pPr marL="0" lvl="1" indent="0">
              <a:buFont typeface="Arial" panose="020B0604020202020204" pitchFamily="34" charset="0"/>
              <a:buNone/>
            </a:pPr>
            <a:r>
              <a:t>The system detects potential risks immediately, allowing quick responses to emerging issues.</a:t>
            </a:r>
            <a:endParaRPr lang="en-US"/>
          </a:p>
          <a:p>
            <a:pPr marL="0" indent="0">
              <a:spcBef>
                <a:spcPts val="2500"/>
              </a:spcBef>
              <a:buFont typeface="Arial" panose="020B0604020202020204" pitchFamily="34" charset="0"/>
              <a:buNone/>
            </a:pPr>
            <a:r>
              <a:rPr lang="en-US" b="1"/>
              <a:t>Automated Escalation Workflows</a:t>
            </a:r>
          </a:p>
          <a:p>
            <a:pPr marL="0" lvl="1" indent="0">
              <a:buFont typeface="Arial" panose="020B0604020202020204" pitchFamily="34" charset="0"/>
              <a:buNone/>
            </a:pPr>
            <a:r>
              <a:t>Automated processes ensure timely escalation of risks to appropriate teams for resolution.</a:t>
            </a:r>
            <a:endParaRPr lang="en-US"/>
          </a:p>
          <a:p>
            <a:pPr marL="0" indent="0">
              <a:spcBef>
                <a:spcPts val="2500"/>
              </a:spcBef>
              <a:buFont typeface="Arial" panose="020B0604020202020204" pitchFamily="34" charset="0"/>
              <a:buNone/>
            </a:pPr>
            <a:r>
              <a:rPr lang="en-US" b="1"/>
              <a:t>Predictive Risk Analytics</a:t>
            </a:r>
          </a:p>
          <a:p>
            <a:pPr marL="0" lvl="1" indent="0">
              <a:buFont typeface="Arial" panose="020B0604020202020204" pitchFamily="34" charset="0"/>
              <a:buNone/>
            </a:pPr>
            <a:r>
              <a:t>Analytics forecast risk trends, enabling proactive measures to prevent issues before they occur.</a:t>
            </a:r>
            <a:endParaRPr lang="en-US"/>
          </a:p>
          <a:p>
            <a:pPr marL="0" indent="0">
              <a:spcBef>
                <a:spcPts val="2500"/>
              </a:spcBef>
              <a:buFont typeface="Arial" panose="020B0604020202020204" pitchFamily="34" charset="0"/>
              <a:buNone/>
            </a:pPr>
            <a:r>
              <a:rPr lang="en-US" b="1"/>
              <a:t>Integration with Project Tools</a:t>
            </a:r>
          </a:p>
          <a:p>
            <a:pPr marL="0" lvl="1" indent="0">
              <a:buFont typeface="Arial" panose="020B0604020202020204" pitchFamily="34" charset="0"/>
              <a:buNone/>
            </a:pPr>
            <a:r>
              <a:t>Seamless integration with project management systems enhances risk tracking and coordination.</a:t>
            </a:r>
            <a:endParaRPr lang="en-US"/>
          </a:p>
        </p:txBody>
      </p:sp>
    </p:spTree>
    <p:extLst>
      <p:ext uri="{BB962C8B-B14F-4D97-AF65-F5344CB8AC3E}">
        <p14:creationId xmlns:p14="http://schemas.microsoft.com/office/powerpoint/2010/main" val="10737310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E9F3-4BC7-E5A3-B144-2FC3D3E5FC0C}"/>
              </a:ext>
            </a:extLst>
          </p:cNvPr>
          <p:cNvSpPr>
            <a:spLocks noGrp="1"/>
          </p:cNvSpPr>
          <p:nvPr>
            <p:ph type="title"/>
          </p:nvPr>
        </p:nvSpPr>
        <p:spPr>
          <a:xfrm>
            <a:off x="612648" y="2093976"/>
            <a:ext cx="8229600" cy="4178808"/>
          </a:xfrm>
        </p:spPr>
        <p:txBody>
          <a:bodyPr anchor="b">
            <a:normAutofit/>
          </a:bodyPr>
          <a:lstStyle/>
          <a:p>
            <a:r>
              <a:rPr lang="en-US"/>
              <a:t>Transition Management Features</a:t>
            </a:r>
          </a:p>
        </p:txBody>
      </p:sp>
    </p:spTree>
    <p:extLst>
      <p:ext uri="{BB962C8B-B14F-4D97-AF65-F5344CB8AC3E}">
        <p14:creationId xmlns:p14="http://schemas.microsoft.com/office/powerpoint/2010/main" val="28273354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CDE4A-74F2-D541-22D4-4843663530BE}"/>
              </a:ext>
            </a:extLst>
          </p:cNvPr>
          <p:cNvSpPr>
            <a:spLocks noGrp="1"/>
          </p:cNvSpPr>
          <p:nvPr>
            <p:ph type="title"/>
          </p:nvPr>
        </p:nvSpPr>
        <p:spPr>
          <a:xfrm>
            <a:off x="8165592" y="1008126"/>
            <a:ext cx="3401567" cy="1947672"/>
          </a:xfrm>
        </p:spPr>
        <p:txBody>
          <a:bodyPr anchor="b">
            <a:normAutofit/>
          </a:bodyPr>
          <a:lstStyle/>
          <a:p>
            <a:r>
              <a:rPr lang="en-US"/>
              <a:t>Capabilities for Transition Oversight</a:t>
            </a:r>
          </a:p>
        </p:txBody>
      </p:sp>
      <p:pic>
        <p:nvPicPr>
          <p:cNvPr id="5" name="Content Placeholder 4" descr="Social network">
            <a:extLst>
              <a:ext uri="{FF2B5EF4-FFF2-40B4-BE49-F238E27FC236}">
                <a16:creationId xmlns:a16="http://schemas.microsoft.com/office/drawing/2014/main" id="{0B86194C-A9C3-4734-A56C-73203FA723A0}"/>
              </a:ext>
            </a:extLst>
          </p:cNvPr>
          <p:cNvPicPr>
            <a:picLocks noGrp="1" noChangeAspect="1"/>
          </p:cNvPicPr>
          <p:nvPr>
            <p:ph type="pic" sz="quarter" idx="15"/>
          </p:nvPr>
        </p:nvPicPr>
        <p:blipFill>
          <a:blip r:embed="rId3"/>
          <a:srcRect l="15414" r="12584" b="-1"/>
          <a:stretch>
            <a:fillRect/>
          </a:stretch>
        </p:blipFill>
        <p:spPr>
          <a:xfrm>
            <a:off x="115866" y="10"/>
            <a:ext cx="7397496" cy="6857990"/>
          </a:xfrm>
          <a:prstGeom prst="rect">
            <a:avLst/>
          </a:prstGeom>
          <a:noFill/>
        </p:spPr>
      </p:pic>
      <p:sp>
        <p:nvSpPr>
          <p:cNvPr id="4" name="Content Placeholder 3">
            <a:extLst>
              <a:ext uri="{FF2B5EF4-FFF2-40B4-BE49-F238E27FC236}">
                <a16:creationId xmlns:a16="http://schemas.microsoft.com/office/drawing/2014/main" id="{3CDAB879-66D9-C99E-0761-F74D4D66B22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Stakeholder Coordination</a:t>
            </a:r>
          </a:p>
          <a:p>
            <a:pPr marL="0" lvl="1" indent="0">
              <a:lnSpc>
                <a:spcPct val="110000"/>
              </a:lnSpc>
              <a:buFont typeface="Arial" panose="020B0604020202020204" pitchFamily="34" charset="0"/>
              <a:buNone/>
            </a:pPr>
            <a:r>
              <a:rPr lang="en-US" sz="1100"/>
              <a:t>Tracks stakeholder availability and sends timely review reminders to enhance coordination and engagement.</a:t>
            </a:r>
          </a:p>
          <a:p>
            <a:pPr marL="0" indent="0">
              <a:lnSpc>
                <a:spcPct val="110000"/>
              </a:lnSpc>
              <a:spcBef>
                <a:spcPts val="2500"/>
              </a:spcBef>
              <a:buFont typeface="Arial" panose="020B0604020202020204" pitchFamily="34" charset="0"/>
              <a:buNone/>
            </a:pPr>
            <a:r>
              <a:rPr lang="en-US" sz="1100" b="1"/>
              <a:t>Knowledge Repository</a:t>
            </a:r>
          </a:p>
          <a:p>
            <a:pPr marL="0" lvl="1" indent="0">
              <a:lnSpc>
                <a:spcPct val="110000"/>
              </a:lnSpc>
              <a:buFont typeface="Arial" panose="020B0604020202020204" pitchFamily="34" charset="0"/>
              <a:buNone/>
            </a:pPr>
            <a:r>
              <a:rPr lang="en-US" sz="1100"/>
              <a:t>Maintains a centralized knowledge repository for SMEs to ensure continuity through transition phases.</a:t>
            </a:r>
          </a:p>
          <a:p>
            <a:pPr marL="0" indent="0">
              <a:lnSpc>
                <a:spcPct val="110000"/>
              </a:lnSpc>
              <a:spcBef>
                <a:spcPts val="2500"/>
              </a:spcBef>
              <a:buFont typeface="Arial" panose="020B0604020202020204" pitchFamily="34" charset="0"/>
              <a:buNone/>
            </a:pPr>
            <a:r>
              <a:rPr lang="en-US" sz="1100" b="1"/>
              <a:t>Automated Compliance</a:t>
            </a:r>
          </a:p>
          <a:p>
            <a:pPr marL="0" lvl="1" indent="0">
              <a:lnSpc>
                <a:spcPct val="110000"/>
              </a:lnSpc>
              <a:buFont typeface="Arial" panose="020B0604020202020204" pitchFamily="34" charset="0"/>
              <a:buNone/>
            </a:pPr>
            <a:r>
              <a:rPr lang="en-US" sz="1100"/>
              <a:t>Automates compliance checklists to reduce manual effort and minimize errors during transitions.</a:t>
            </a:r>
          </a:p>
        </p:txBody>
      </p:sp>
    </p:spTree>
    <p:extLst>
      <p:ext uri="{BB962C8B-B14F-4D97-AF65-F5344CB8AC3E}">
        <p14:creationId xmlns:p14="http://schemas.microsoft.com/office/powerpoint/2010/main" val="3242316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35DBB-BD7A-8B2F-B8C0-D43653BEA835}"/>
              </a:ext>
            </a:extLst>
          </p:cNvPr>
          <p:cNvSpPr>
            <a:spLocks noGrp="1"/>
          </p:cNvSpPr>
          <p:nvPr>
            <p:ph type="title"/>
          </p:nvPr>
        </p:nvSpPr>
        <p:spPr>
          <a:xfrm>
            <a:off x="612648" y="2093976"/>
            <a:ext cx="8229600" cy="4178808"/>
          </a:xfrm>
        </p:spPr>
        <p:txBody>
          <a:bodyPr anchor="b">
            <a:normAutofit/>
          </a:bodyPr>
          <a:lstStyle/>
          <a:p>
            <a:r>
              <a:rPr lang="en-US"/>
              <a:t>Benefits</a:t>
            </a:r>
          </a:p>
        </p:txBody>
      </p:sp>
    </p:spTree>
    <p:extLst>
      <p:ext uri="{BB962C8B-B14F-4D97-AF65-F5344CB8AC3E}">
        <p14:creationId xmlns:p14="http://schemas.microsoft.com/office/powerpoint/2010/main" val="22809077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7B75-AA5D-A769-C921-A7AA69233772}"/>
              </a:ext>
            </a:extLst>
          </p:cNvPr>
          <p:cNvSpPr>
            <a:spLocks noGrp="1"/>
          </p:cNvSpPr>
          <p:nvPr>
            <p:ph type="title"/>
          </p:nvPr>
        </p:nvSpPr>
        <p:spPr>
          <a:xfrm>
            <a:off x="612648" y="502920"/>
            <a:ext cx="4669536" cy="1453896"/>
          </a:xfrm>
        </p:spPr>
        <p:txBody>
          <a:bodyPr anchor="t">
            <a:normAutofit/>
          </a:bodyPr>
          <a:lstStyle/>
          <a:p>
            <a:r>
              <a:rPr lang="en-US"/>
              <a:t>Advantages of AI-Driven Approach</a:t>
            </a:r>
          </a:p>
        </p:txBody>
      </p:sp>
      <p:pic>
        <p:nvPicPr>
          <p:cNvPr id="5" name="Content Placeholder 4" descr="Business chart on the tablet pc and printed media">
            <a:extLst>
              <a:ext uri="{FF2B5EF4-FFF2-40B4-BE49-F238E27FC236}">
                <a16:creationId xmlns:a16="http://schemas.microsoft.com/office/drawing/2014/main" id="{D9471C1A-6559-4C91-BF7F-9A08866029CF}"/>
              </a:ext>
            </a:extLst>
          </p:cNvPr>
          <p:cNvPicPr>
            <a:picLocks noGrp="1" noChangeAspect="1"/>
          </p:cNvPicPr>
          <p:nvPr>
            <p:ph type="pic" sz="quarter" idx="15"/>
          </p:nvPr>
        </p:nvPicPr>
        <p:blipFill>
          <a:blip r:embed="rId3"/>
          <a:srcRect r="22551"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E83B3F07-5E20-1B7D-6DF9-935924D3895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Automation Reduces Delays</a:t>
            </a:r>
          </a:p>
          <a:p>
            <a:pPr marL="0" lvl="1" indent="0">
              <a:buFont typeface="Arial" panose="020B0604020202020204" pitchFamily="34" charset="0"/>
              <a:buNone/>
            </a:pPr>
            <a:r>
              <a:t>AI automates routine tasks and provides predictive alerts to minimize project delays effectively.</a:t>
            </a:r>
            <a:endParaRPr lang="en-US"/>
          </a:p>
          <a:p>
            <a:pPr marL="0" indent="0">
              <a:spcBef>
                <a:spcPts val="2500"/>
              </a:spcBef>
              <a:buFont typeface="Arial" panose="020B0604020202020204" pitchFamily="34" charset="0"/>
              <a:buNone/>
            </a:pPr>
            <a:r>
              <a:rPr lang="en-US" b="1"/>
              <a:t>Risk and Progress Visibility</a:t>
            </a:r>
          </a:p>
          <a:p>
            <a:pPr marL="0" lvl="1" indent="0">
              <a:buFont typeface="Arial" panose="020B0604020202020204" pitchFamily="34" charset="0"/>
              <a:buNone/>
            </a:pPr>
            <a:r>
              <a:t>Enhanced visibility into risks and project progress improves monitoring and proactive responses.</a:t>
            </a:r>
            <a:endParaRPr lang="en-US"/>
          </a:p>
          <a:p>
            <a:pPr marL="0" indent="0">
              <a:spcBef>
                <a:spcPts val="2500"/>
              </a:spcBef>
              <a:buFont typeface="Arial" panose="020B0604020202020204" pitchFamily="34" charset="0"/>
              <a:buNone/>
            </a:pPr>
            <a:r>
              <a:rPr lang="en-US" b="1"/>
              <a:t>Transparent Client Reporting</a:t>
            </a:r>
          </a:p>
          <a:p>
            <a:pPr marL="0" lvl="1" indent="0">
              <a:buFont typeface="Arial" panose="020B0604020202020204" pitchFamily="34" charset="0"/>
              <a:buNone/>
            </a:pPr>
            <a:r>
              <a:t>Transparent reporting increases client confidence through clear and accessible project updates.</a:t>
            </a:r>
            <a:endParaRPr lang="en-US"/>
          </a:p>
          <a:p>
            <a:pPr marL="0" indent="0">
              <a:spcBef>
                <a:spcPts val="2500"/>
              </a:spcBef>
              <a:buFont typeface="Arial" panose="020B0604020202020204" pitchFamily="34" charset="0"/>
              <a:buNone/>
            </a:pPr>
            <a:r>
              <a:rPr lang="en-US" b="1"/>
              <a:t>Data-Driven Decision Making</a:t>
            </a:r>
          </a:p>
          <a:p>
            <a:pPr marL="0" lvl="1" indent="0">
              <a:buFont typeface="Arial" panose="020B0604020202020204" pitchFamily="34" charset="0"/>
              <a:buNone/>
            </a:pPr>
            <a:r>
              <a:t>Decisions are backed by accurate data insights, leading to better project outcomes and reduced costs.</a:t>
            </a:r>
            <a:endParaRPr lang="en-US"/>
          </a:p>
        </p:txBody>
      </p:sp>
    </p:spTree>
    <p:extLst>
      <p:ext uri="{BB962C8B-B14F-4D97-AF65-F5344CB8AC3E}">
        <p14:creationId xmlns:p14="http://schemas.microsoft.com/office/powerpoint/2010/main" val="3439059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3317D-048A-7660-6BD1-701E73931329}"/>
              </a:ext>
            </a:extLst>
          </p:cNvPr>
          <p:cNvSpPr>
            <a:spLocks noGrp="1"/>
          </p:cNvSpPr>
          <p:nvPr>
            <p:ph type="title"/>
          </p:nvPr>
        </p:nvSpPr>
        <p:spPr>
          <a:xfrm>
            <a:off x="612648" y="2093976"/>
            <a:ext cx="8229600" cy="4178808"/>
          </a:xfrm>
        </p:spPr>
        <p:txBody>
          <a:bodyPr anchor="b">
            <a:normAutofit/>
          </a:bodyPr>
          <a:lstStyle/>
          <a:p>
            <a:r>
              <a:rPr lang="en-US"/>
              <a:t>Next Steps</a:t>
            </a:r>
          </a:p>
        </p:txBody>
      </p:sp>
    </p:spTree>
    <p:extLst>
      <p:ext uri="{BB962C8B-B14F-4D97-AF65-F5344CB8AC3E}">
        <p14:creationId xmlns:p14="http://schemas.microsoft.com/office/powerpoint/2010/main" val="402719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775D-621B-CF23-4EA4-05EF2A88ADAA}"/>
              </a:ext>
            </a:extLst>
          </p:cNvPr>
          <p:cNvSpPr>
            <a:spLocks noGrp="1"/>
          </p:cNvSpPr>
          <p:nvPr>
            <p:ph type="title"/>
          </p:nvPr>
        </p:nvSpPr>
        <p:spPr>
          <a:xfrm>
            <a:off x="8165592" y="502920"/>
            <a:ext cx="3401568" cy="1444752"/>
          </a:xfrm>
        </p:spPr>
        <p:txBody>
          <a:bodyPr anchor="b">
            <a:normAutofit/>
          </a:bodyPr>
          <a:lstStyle/>
          <a:p>
            <a:r>
              <a:rPr lang="en-US"/>
              <a:t>Implementation Roadmap</a:t>
            </a:r>
          </a:p>
        </p:txBody>
      </p:sp>
      <p:pic>
        <p:nvPicPr>
          <p:cNvPr id="5" name="Content Placeholder 4" descr="Driverless self drive autopilot vehicle">
            <a:extLst>
              <a:ext uri="{FF2B5EF4-FFF2-40B4-BE49-F238E27FC236}">
                <a16:creationId xmlns:a16="http://schemas.microsoft.com/office/drawing/2014/main" id="{B3B4C57A-BDAF-458F-BCA9-DFDB670927A8}"/>
              </a:ext>
            </a:extLst>
          </p:cNvPr>
          <p:cNvPicPr>
            <a:picLocks noGrp="1" noChangeAspect="1"/>
          </p:cNvPicPr>
          <p:nvPr>
            <p:ph type="pic" sz="quarter" idx="15"/>
          </p:nvPr>
        </p:nvPicPr>
        <p:blipFill>
          <a:blip r:embed="rId3"/>
          <a:srcRect l="22982" r="16343"/>
          <a:stretch>
            <a:fillRect/>
          </a:stretch>
        </p:blipFill>
        <p:spPr>
          <a:xfrm>
            <a:off x="115866" y="-1"/>
            <a:ext cx="7397496" cy="6857999"/>
          </a:xfrm>
          <a:prstGeom prst="rect">
            <a:avLst/>
          </a:prstGeom>
          <a:noFill/>
        </p:spPr>
      </p:pic>
      <p:sp>
        <p:nvSpPr>
          <p:cNvPr id="4" name="Content Placeholder 3">
            <a:extLst>
              <a:ext uri="{FF2B5EF4-FFF2-40B4-BE49-F238E27FC236}">
                <a16:creationId xmlns:a16="http://schemas.microsoft.com/office/drawing/2014/main" id="{5BF2D3BC-A5A2-C8E2-AF20-D0BA289321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2084832"/>
            <a:ext cx="3401568" cy="4169664"/>
          </a:xfrm>
        </p:spPr>
        <p:txBody>
          <a:bodyPr>
            <a:normAutofit/>
          </a:bodyPr>
          <a:lstStyle/>
          <a:p>
            <a:pPr marL="0" indent="0">
              <a:spcBef>
                <a:spcPts val="2500"/>
              </a:spcBef>
              <a:buFont typeface="Arial" panose="020B0604020202020204" pitchFamily="34" charset="0"/>
              <a:buNone/>
            </a:pPr>
            <a:r>
              <a:rPr lang="en-US" b="1"/>
              <a:t>Finalize System Architecture</a:t>
            </a:r>
          </a:p>
          <a:p>
            <a:pPr marL="0" lvl="1" indent="0">
              <a:buFont typeface="Arial" panose="020B0604020202020204" pitchFamily="34" charset="0"/>
              <a:buNone/>
            </a:pPr>
            <a:r>
              <a:t>Complete the design of the AI system architecture and define access requirements for secure implementation.</a:t>
            </a:r>
            <a:endParaRPr lang="en-US"/>
          </a:p>
          <a:p>
            <a:pPr marL="0" indent="0">
              <a:spcBef>
                <a:spcPts val="2500"/>
              </a:spcBef>
              <a:buFont typeface="Arial" panose="020B0604020202020204" pitchFamily="34" charset="0"/>
              <a:buNone/>
            </a:pPr>
            <a:r>
              <a:rPr lang="en-US" b="1"/>
              <a:t>Conduct Pilot Program</a:t>
            </a:r>
          </a:p>
          <a:p>
            <a:pPr marL="0" lvl="1" indent="0">
              <a:buFont typeface="Arial" panose="020B0604020202020204" pitchFamily="34" charset="0"/>
              <a:buNone/>
            </a:pPr>
            <a:r>
              <a:t>Run a pilot with selected transitions to validate functionality and gather real-world feedback for improvements.</a:t>
            </a:r>
            <a:endParaRPr lang="en-US"/>
          </a:p>
          <a:p>
            <a:pPr marL="0" indent="0">
              <a:spcBef>
                <a:spcPts val="2500"/>
              </a:spcBef>
              <a:buFont typeface="Arial" panose="020B0604020202020204" pitchFamily="34" charset="0"/>
              <a:buNone/>
            </a:pPr>
            <a:r>
              <a:rPr lang="en-US" b="1"/>
              <a:t>Scale Across Programs</a:t>
            </a:r>
          </a:p>
          <a:p>
            <a:pPr marL="0" lvl="1" indent="0">
              <a:buFont typeface="Arial" panose="020B0604020202020204" pitchFamily="34" charset="0"/>
              <a:buNone/>
            </a:pPr>
            <a:r>
              <a:t>Expand the AI-driven solution to multiple programs ensuring scalability and robust performance.</a:t>
            </a:r>
            <a:endParaRPr lang="en-US"/>
          </a:p>
        </p:txBody>
      </p:sp>
    </p:spTree>
    <p:extLst>
      <p:ext uri="{BB962C8B-B14F-4D97-AF65-F5344CB8AC3E}">
        <p14:creationId xmlns:p14="http://schemas.microsoft.com/office/powerpoint/2010/main" val="541493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145BFBA-5402-4A2B-A3EF-0CBC5F583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3.xml><?xml version="1.0" encoding="utf-8"?>
<ds:datastoreItem xmlns:ds="http://schemas.openxmlformats.org/officeDocument/2006/customXml" ds:itemID="{D1765D7D-D5CE-4522-8099-745D903F48D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TotalTime>1</TotalTime>
  <Words>4</Words>
  <Application>Microsoft Office PowerPoint</Application>
  <PresentationFormat>Widescreen</PresentationFormat>
  <Paragraphs>2</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Chroma</vt:lpstr>
      <vt:lpstr>AI-Driven Transition Management &amp; Risk Tracking Agent</vt:lpstr>
      <vt:lpstr>Introduction and Agenda</vt:lpstr>
      <vt:lpstr>Agenda Overview</vt:lpstr>
      <vt:lpstr>Current Challenges</vt:lpstr>
      <vt:lpstr>Challenges in Transition Management</vt:lpstr>
      <vt:lpstr>Objectives</vt:lpstr>
      <vt:lpstr>Goals of AI Integration</vt:lpstr>
      <vt:lpstr>Solution Overview</vt:lpstr>
      <vt:lpstr>AI Agent Capabilities</vt:lpstr>
      <vt:lpstr>Architecture</vt:lpstr>
      <vt:lpstr>System Architecture and Workflow</vt:lpstr>
      <vt:lpstr>Risk Tracking Features</vt:lpstr>
      <vt:lpstr>Capabilities for Risk Management</vt:lpstr>
      <vt:lpstr>Transition Management Features</vt:lpstr>
      <vt:lpstr>Capabilities for Transition Oversight</vt:lpstr>
      <vt:lpstr>Benefits</vt:lpstr>
      <vt:lpstr>Advantages of AI-Driven Approach</vt:lpstr>
      <vt:lpstr>Next Steps</vt:lpstr>
      <vt:lpstr>Implementation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3</cp:revision>
  <dcterms:created xsi:type="dcterms:W3CDTF">2025-08-21T22:55:37Z</dcterms:created>
  <dcterms:modified xsi:type="dcterms:W3CDTF">2025-12-05T06:55:35Z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